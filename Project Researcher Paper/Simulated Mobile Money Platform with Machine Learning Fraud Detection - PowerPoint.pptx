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28" r:id="rId2"/>
    <p:sldId id="329" r:id="rId3"/>
    <p:sldId id="297" r:id="rId4"/>
    <p:sldId id="300" r:id="rId5"/>
    <p:sldId id="358" r:id="rId6"/>
    <p:sldId id="361" r:id="rId7"/>
    <p:sldId id="359" r:id="rId8"/>
    <p:sldId id="336" r:id="rId9"/>
    <p:sldId id="360" r:id="rId10"/>
    <p:sldId id="362" r:id="rId11"/>
    <p:sldId id="357" r:id="rId12"/>
    <p:sldId id="363" r:id="rId13"/>
    <p:sldId id="346" r:id="rId14"/>
    <p:sldId id="343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D0CD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411" autoAdjust="0"/>
  </p:normalViewPr>
  <p:slideViewPr>
    <p:cSldViewPr snapToGrid="0">
      <p:cViewPr varScale="1">
        <p:scale>
          <a:sx n="78" d="100"/>
          <a:sy n="78" d="100"/>
        </p:scale>
        <p:origin x="1622" y="77"/>
      </p:cViewPr>
      <p:guideLst/>
    </p:cSldViewPr>
  </p:slideViewPr>
  <p:outlineViewPr>
    <p:cViewPr>
      <p:scale>
        <a:sx n="33" d="100"/>
        <a:sy n="33" d="100"/>
      </p:scale>
      <p:origin x="0" y="-38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78250-987A-4FF6-BAAC-180BDED33B9F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53D80-A05D-43B8-8298-09EF9EE829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19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B46DB5A-7469-294B-9282-F92FAEC1605A}" type="slidenum">
              <a:rPr lang="en-US" altLang="zh-TW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61379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2742" y="796293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2742" y="3528542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256D-67A1-44F6-BE3E-91E10979EDB7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8342" y="6451610"/>
            <a:ext cx="3086292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9353" y="6257233"/>
            <a:ext cx="802005" cy="503578"/>
          </a:xfrm>
        </p:spPr>
        <p:txBody>
          <a:bodyPr anchor="b"/>
          <a:lstStyle>
            <a:lvl1pPr>
              <a:defRPr sz="1400"/>
            </a:lvl1pPr>
          </a:lstStyle>
          <a:p>
            <a:fld id="{C9ECBA6E-F90B-4680-A0B4-0BF69B3B2C3B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62741" y="3528542"/>
            <a:ext cx="5618515" cy="0"/>
          </a:xfrm>
          <a:prstGeom prst="line">
            <a:avLst/>
          </a:prstGeom>
          <a:ln w="31750">
            <a:solidFill>
              <a:srgbClr val="0070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34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1" y="141457"/>
            <a:ext cx="8243434" cy="906644"/>
          </a:xfrm>
        </p:spPr>
        <p:txBody>
          <a:bodyPr anchor="ctr">
            <a:normAutofit/>
          </a:bodyPr>
          <a:lstStyle>
            <a:lvl1pPr>
              <a:defRPr sz="30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1" y="1228444"/>
            <a:ext cx="8243434" cy="486681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4DB7-98F7-4745-AD00-711610A509FA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/>
          <a:lstStyle>
            <a:lvl1pPr>
              <a:defRPr lang="en-GB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ECBA6E-F90B-4680-A0B4-0BF69B3B2C3B}" type="slidenum">
              <a:rPr lang="en-GH" smtClean="0"/>
              <a:pPr/>
              <a:t>‹#›</a:t>
            </a:fld>
            <a:endParaRPr lang="en-GH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462416" y="1134735"/>
            <a:ext cx="8243434" cy="0"/>
          </a:xfrm>
          <a:prstGeom prst="line">
            <a:avLst/>
          </a:prstGeom>
          <a:ln w="57150">
            <a:solidFill>
              <a:srgbClr val="0070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0EDE48-1EEF-2996-6407-BA42ECEE70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" y="141457"/>
            <a:ext cx="430413" cy="48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5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0BD6-9525-4EF1-A9FF-268CF6C4E7FF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7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F024-D396-4623-A598-34D57542C654}" type="datetime1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8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24B5F-D14B-490B-B581-30CAA7540EFC}" type="datetime1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99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A35E-AA8C-40BB-93E1-524899B7A224}" type="datetime1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17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E1032-2F2E-4B9E-9E39-AB97780DBD1D}" type="datetime1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8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D5063-DBF3-494B-9424-6029DF6F013B}" type="datetime1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40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A045F94F-34AE-489B-86D0-482F67185AFF}" type="datetime1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91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111B-818A-4C57-934D-77BC86F6D1F4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55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3082-6EC9-45EE-B6E3-A2DBF8C103A5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39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941" y="277648"/>
            <a:ext cx="8243434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41" y="1587108"/>
            <a:ext cx="8243434" cy="4508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89367" y="645161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93F0E-882E-47F7-BE04-6F29B88EBF63}" type="datetime1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775" y="6451610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3479" y="6275591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ECBA6E-F90B-4680-A0B4-0BF69B3B2C3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61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8293" y="1082675"/>
            <a:ext cx="8507413" cy="2346325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Simulated Mobile Money Platform with Machine Learning Fraud Detection</a:t>
            </a:r>
            <a:endParaRPr lang="en-GB" sz="24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33513" y="3932237"/>
            <a:ext cx="6553200" cy="1764369"/>
          </a:xfrm>
        </p:spPr>
        <p:txBody>
          <a:bodyPr/>
          <a:lstStyle/>
          <a:p>
            <a:pPr algn="ctr" eaLnBrk="1" hangingPunct="1">
              <a:buFont typeface="Wingdings" charset="2"/>
              <a:buNone/>
            </a:pPr>
            <a:r>
              <a:rPr lang="en-US" altLang="zh-TW" b="1" dirty="0">
                <a:latin typeface="Times New Roman" charset="0"/>
                <a:ea typeface="新細明體" charset="0"/>
                <a:cs typeface="Times New Roman" charset="0"/>
              </a:rPr>
              <a:t>Atabisa Williams (UEB1107322),  Aninakwa Desmond (UEB1106722), Oti Akwasi Latteh (UEB1100622)</a:t>
            </a:r>
          </a:p>
          <a:p>
            <a:pPr algn="ctr" eaLnBrk="1" hangingPunct="1">
              <a:buFont typeface="Wingdings" charset="2"/>
              <a:buNone/>
            </a:pPr>
            <a:r>
              <a:rPr lang="en-US" altLang="zh-TW" b="1" dirty="0">
                <a:latin typeface="Times New Roman" charset="0"/>
                <a:ea typeface="新細明體" charset="0"/>
                <a:cs typeface="Times New Roman" charset="0"/>
              </a:rPr>
              <a:t>Supervisor: DR. Samuel Tweneboah-Koduah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ACA1BF-4023-4518-A2B5-942F98EB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F574A-28C7-4FA8-830B-69E0B39A4EFB}"/>
              </a:ext>
            </a:extLst>
          </p:cNvPr>
          <p:cNvSpPr txBox="1"/>
          <p:nvPr/>
        </p:nvSpPr>
        <p:spPr>
          <a:xfrm>
            <a:off x="2424113" y="61144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Department of Computer</a:t>
            </a:r>
            <a:r>
              <a:rPr lang="en-GB" dirty="0"/>
              <a:t> and Electrical Engineering, UENR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Project Scope and Delimitations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System Methodology and Architecture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Implementation and System Integration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Experimental Results and Performance Evaluation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Discussion and 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3529AC-E1CD-4BC8-B737-0824EC5A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Presentation Outline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0D6EB-A9D6-41D9-A53E-ECC0EF2E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1E0C-9E3E-44B4-A285-B09E9990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624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Mobile money (MoMo) has become the foundational financial infrastructure across Sub-Saharan Africa, replacing branch banking for millions of unbanked users.</a:t>
            </a:r>
          </a:p>
          <a:p>
            <a:r>
              <a:rPr lang="en-US" dirty="0"/>
              <a:t>Ghana alone processed over 6.8 billion transactions worth GHS 1.9 trillion+ in a single year [1].</a:t>
            </a:r>
          </a:p>
          <a:p>
            <a:r>
              <a:rPr lang="en-US" dirty="0"/>
              <a:t>This explosive transaction velocity has made mobile money ecosystems an attractive target for organized digital fraud [3], [4].</a:t>
            </a:r>
          </a:p>
          <a:p>
            <a:r>
              <a:rPr lang="en-US" dirty="0"/>
              <a:t>Two dominant threat categories confront MNOs today:</a:t>
            </a:r>
          </a:p>
          <a:p>
            <a:pPr lvl="1"/>
            <a:r>
              <a:rPr lang="en-US" dirty="0"/>
              <a:t>Account Takeover Detection (ATOD)</a:t>
            </a:r>
          </a:p>
          <a:p>
            <a:pPr lvl="1"/>
            <a:r>
              <a:rPr lang="en-US" dirty="0"/>
              <a:t>Transaction Anomaly Fraud</a:t>
            </a:r>
          </a:p>
          <a:p>
            <a:r>
              <a:rPr lang="en-US" dirty="0"/>
              <a:t>Static, rule-based defenses cannot adapt fast enough to these evolving attack patterns.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7D3DC-C628-440F-8B4D-61D02F64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3</a:t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457200" y="611448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chemeClr val="tx1"/>
                </a:solidFill>
              </a:rPr>
              <a:t>[1] Bank of Ghana Annual Payment Systems Report, 2023.  [3] Arthur, Mensah &amp; Agyepong, African Development Review, 2023.  [4] Boateng et al., IEEE Access, 2022.</a:t>
            </a:r>
          </a:p>
        </p:txBody>
      </p:sp>
    </p:spTree>
    <p:extLst>
      <p:ext uri="{BB962C8B-B14F-4D97-AF65-F5344CB8AC3E}">
        <p14:creationId xmlns:p14="http://schemas.microsoft.com/office/powerpoint/2010/main" val="90904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F31E38-F666-453A-B808-22BEA0EDD064}"/>
              </a:ext>
            </a:extLst>
          </p:cNvPr>
          <p:cNvSpPr/>
          <p:nvPr/>
        </p:nvSpPr>
        <p:spPr>
          <a:xfrm>
            <a:off x="0" y="5709423"/>
            <a:ext cx="9144000" cy="1148577"/>
          </a:xfrm>
          <a:prstGeom prst="rect">
            <a:avLst/>
          </a:prstGeom>
          <a:solidFill>
            <a:srgbClr val="D0CD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D8805-F879-47B4-B746-8D81531B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Problem Statement</a:t>
            </a:r>
            <a:endParaRPr lang="en-GB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9189-459F-4251-8C65-12B9C97E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Legacy MNOs rely on static, rule-based engines: fixed transfer caps, velocity counters, and blacklists [5].</a:t>
            </a:r>
          </a:p>
          <a:p>
            <a:r>
              <a:rPr lang="en-US" dirty="0"/>
              <a:t>Rule engines cannot distinguish a genuine session from one using stolen but valid credentials.</a:t>
            </a:r>
          </a:p>
          <a:p>
            <a:r>
              <a:rPr lang="en-US" dirty="0"/>
              <a:t>Two catastrophic fraud categories result:</a:t>
            </a:r>
          </a:p>
          <a:p>
            <a:pPr lvl="1"/>
            <a:r>
              <a:rPr lang="en-US" dirty="0"/>
              <a:t>Account Takeover (ATOD): adversary hijacks the account, changes the PIN, and drains the wallet</a:t>
            </a:r>
          </a:p>
          <a:p>
            <a:pPr lvl="1"/>
            <a:r>
              <a:rPr lang="en-US" dirty="0"/>
              <a:t>Transaction Anomaly: abnormal amounts, midnight transfers, rapid balance depletion [6], [7]</a:t>
            </a:r>
          </a:p>
          <a:p>
            <a:r>
              <a:rPr lang="en-US" dirty="0"/>
              <a:t>Rigid thresholds create high false positives or leave attack corridors wide open.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F9426-9B6F-4882-8CCD-54C45945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4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2287151-94D1-4DE2-949A-84B4AB5E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648" y="5709423"/>
            <a:ext cx="8229600" cy="1044533"/>
          </a:xfrm>
        </p:spPr>
        <p:txBody>
          <a:bodyPr anchor="t"/>
          <a:lstStyle/>
          <a:p>
            <a:pPr algn="l">
              <a:defRPr/>
            </a:pPr>
            <a:r>
              <a:rPr lang="en-US" altLang="en-US" sz="1050" i="1" dirty="0">
                <a:solidFill>
                  <a:schemeClr val="tx1"/>
                </a:solidFill>
              </a:rPr>
              <a:t>[5] E. Mensah, J. K. Arthur, and F. B. Osei, "Account takeover and identity spoofing in African mobile telephony services," Computers &amp; Security, vol. 128, Art. no. 103140, 2023.</a:t>
            </a:r>
          </a:p>
          <a:p>
            <a:pPr algn="l">
              <a:defRPr/>
            </a:pPr>
            <a:r>
              <a:rPr lang="en-US" altLang="en-US" sz="1050" i="1" dirty="0">
                <a:solidFill>
                  <a:schemeClr val="tx1"/>
                </a:solidFill>
              </a:rPr>
              <a:t>[6] S. A. Asamoah, E. Owusu, and B. C. Asare, "Behavioral biometrics and telemetry for account compromise detection in fintech platforms," IEEE Trans. Information Forensics and Security, vol. 19, pp. 1120-1134, 2024.</a:t>
            </a:r>
          </a:p>
          <a:p>
            <a:pPr algn="l">
              <a:defRPr/>
            </a:pPr>
            <a:r>
              <a:rPr lang="en-US" altLang="en-US" sz="1050" i="1" dirty="0">
                <a:solidFill>
                  <a:schemeClr val="tx1"/>
                </a:solidFill>
              </a:rPr>
              <a:t>[7] A. O. Agyemang, D. S. Baah, and R. Addo, "Fraud anomaly detection in high-velocity mobile money streams using gradient boosted decision trees," Journal of Financial Crime, vol. 30, no. 3, pp. 672-689, 2023.</a:t>
            </a:r>
          </a:p>
        </p:txBody>
      </p:sp>
    </p:spTree>
    <p:extLst>
      <p:ext uri="{BB962C8B-B14F-4D97-AF65-F5344CB8AC3E}">
        <p14:creationId xmlns:p14="http://schemas.microsoft.com/office/powerpoint/2010/main" val="289435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AED0-787F-9A59-D73F-C0C1A5F2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8201-E2A5-37EC-600A-E625B1F86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a real-time ATOD engine:  facial detection scan, Haversine geospatial velocity, credential-change monitoring</a:t>
            </a:r>
          </a:p>
          <a:p>
            <a:r>
              <a:rPr lang="en-US" dirty="0"/>
              <a:t>Train and deploy an XGBoost model on the Kaggle Africa-Mobile-Money-Fraud-Dataset for sub-10ms anomaly scoring</a:t>
            </a:r>
          </a:p>
          <a:p>
            <a:r>
              <a:rPr lang="en-US" dirty="0"/>
              <a:t>Engineer an 18-feature behavioral telemetry vector fusing hardware, network, and financial signals</a:t>
            </a:r>
          </a:p>
          <a:p>
            <a:r>
              <a:rPr lang="en-US" dirty="0"/>
              <a:t>Implement an autonomous zero-deduction defense policy with step-up MFA for borderline transactions</a:t>
            </a:r>
          </a:p>
          <a:p>
            <a:r>
              <a:rPr lang="en-US" dirty="0"/>
              <a:t>Deploy a real-time SOC portal with WebSocket alerts for human-in-the-loop dispute adjudication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A915D-A49F-57EB-939C-38A5559C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90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AED0-787F-9A59-D73F-C0C1A5F2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 and limitations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8201-E2A5-37EC-600A-E625B1F86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In-Scope Focus Areas</a:t>
            </a:r>
          </a:p>
          <a:p>
            <a:pPr lvl="1"/>
            <a:r>
              <a:rPr lang="en-US" dirty="0"/>
              <a:t>Real-Time Account Takeover Detection (ATOD): facial detection can, IP subnets, Haversine velocity breaches, rapid credential changes</a:t>
            </a:r>
          </a:p>
          <a:p>
            <a:pPr lvl="1"/>
            <a:r>
              <a:rPr lang="en-US" dirty="0"/>
              <a:t>Transaction Anomaly ML Scoring: XGBoost evaluation of amount Z-scores, spending variance, midnight windows, and balance exhaustion</a:t>
            </a:r>
          </a:p>
          <a:p>
            <a:pPr lvl="1"/>
            <a:r>
              <a:rPr lang="en-US" dirty="0"/>
              <a:t>Full-Stack End-to-End Simulation: client app, Node.js gateway, FastAPI ML service, and React SOC portal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Out-of-Scope Exclusions</a:t>
            </a:r>
          </a:p>
          <a:p>
            <a:pPr lvl="1"/>
            <a:r>
              <a:rPr lang="en-US" dirty="0"/>
              <a:t>High-Risk Receiver / Mule Account Detection (graph-based clustering, AML networks)</a:t>
            </a:r>
          </a:p>
          <a:p>
            <a:pPr lvl="1"/>
            <a:r>
              <a:rPr lang="en-US" dirty="0"/>
              <a:t>Carrier-Level SIM Swap Prevention (SS7 / Diameter signaling, carrier-side audits)</a:t>
            </a:r>
          </a:p>
          <a:p>
            <a:pPr lvl="1"/>
            <a:r>
              <a:rPr lang="en-US" dirty="0"/>
              <a:t>Social Engineering and Voice Phishing Interception (vishing, smishing)</a:t>
            </a:r>
          </a:p>
          <a:p>
            <a:pPr lvl="1"/>
            <a:r>
              <a:rPr lang="en-US" dirty="0"/>
              <a:t>Cross-Institutional AML Reporting (multi-year, multi-bank aggregation)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A915D-A49F-57EB-939C-38A5559C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90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B4A4-8326-2E97-5048-3DD67EF9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EABA-2FB3-0134-E5EF-886B98501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 money evolved from telecom-driven financial inclusion to a systemically important national payment rail [2], [3]</a:t>
            </a:r>
          </a:p>
          <a:p>
            <a:r>
              <a:rPr lang="en-US" dirty="0"/>
              <a:t>Account takeover typically involves credential theft, device migration, and rapid PIN changes before fund exfiltration [5], [6]</a:t>
            </a:r>
          </a:p>
          <a:p>
            <a:r>
              <a:rPr lang="en-US" dirty="0"/>
              <a:t>Transaction anomalies show statistical outliers in amount, timing, and velocity that evade rule-based checks [7], [9]</a:t>
            </a:r>
          </a:p>
          <a:p>
            <a:r>
              <a:rPr lang="en-US" dirty="0"/>
              <a:t>XGBoost consistently outperforms conventional classifiers on imbalanced financial data [8], [13]</a:t>
            </a:r>
          </a:p>
          <a:p>
            <a:r>
              <a:rPr lang="en-US" dirty="0"/>
              <a:t>Research gap: prior studies treat ATOD and transaction-anomaly detection as separate domains, with no unified real-time, zero-deduction implementation, addressed in this thesis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BB8E0-7AF1-4818-EBA2-ED426F40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69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9457-3641-4CB6-B36E-CDACA1F1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Review: Key Studies</a:t>
            </a:r>
            <a:endParaRPr lang="en-GB" cap="none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221DDF0-89D0-4AF8-9E8A-0504A48F04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723548"/>
              </p:ext>
            </p:extLst>
          </p:nvPr>
        </p:nvGraphicFramePr>
        <p:xfrm>
          <a:off x="471941" y="1231411"/>
          <a:ext cx="8243433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93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r>
                        <a:rPr lang="en-US" sz="850" b="1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1" dirty="0"/>
                        <a:t>Relevance to This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850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Mensah, Arthur &amp; Osei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Account Takeover (ATOD)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Computers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Static rules cannot flag hijacked sessions using valid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Motivates the ATOD heuristic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850" dirty="0"/>
                        <a:t>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Liu, Zhang &amp;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XGBoost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Expert Systems w/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XGBoost outperforms conventional classifiers under extreme class 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Basis for the transaction-scoring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850" dirty="0"/>
                        <a:t>[11]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Tetteh, Sowah &amp; Mills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Real-time ML fraud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IEEE IoT 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Most prior systems are offline/batch, not 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Justifies the sub-10ms inference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850" dirty="0"/>
                        <a:t>[15]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Darkwah &amp; Mensah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SOC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Computers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Human-in-the-loop review improves fairness and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dirty="0"/>
                        <a:t>Basis for the SOC portal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A53AB-F22E-4A3D-A3B2-3E16EB4F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239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9457-3641-4CB6-B36E-CDACA1F1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Methodology and Architecture</a:t>
            </a:r>
            <a:endParaRPr lang="en-GB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A53AB-F22E-4A3D-A3B2-3E16EB4F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9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8897B-C162-4A6A-89EC-BD5A75966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Design Philosophy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Zero-Trust, Defense-in-Depth: every transaction is treated as potentially compromised until verified through multiple independent security layers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Hybrid detection combining deterministic heuristic rules (ATOD engine) with probabilistic ML scoring (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regressor)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Five-Tier Microservice Architecture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Client Layer </a:t>
            </a:r>
            <a:r>
              <a:rPr lang="en-US" sz="1300" dirty="0">
                <a:solidFill>
                  <a:srgbClr val="333333"/>
                </a:solidFill>
                <a:latin typeface="Calibri"/>
              </a:rPr>
              <a:t>- 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React.js SPA with biometric enrollment and real-time WebSocket sync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API Gateway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Node.js/Express with JWT auth, ATOD interceptor middleware, and telemetry ingestion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ML Inference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FastAPI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/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Uvicorn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hosting the serialized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model as an isolated microservice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Database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MongoDB Atlas storing users, transactions, fraud cases, and immutable audit logs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SOC Portal </a:t>
            </a:r>
            <a:r>
              <a:rPr lang="en-US" sz="1300" b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Real-time fraud analyst dashboard with bi-directional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WebSockets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and forensic drawer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Dual Detection Pipeline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ATOD Heuristic Engine: device fingerprint check, Haversine velocity breach, credential-change monitoring, and account lockout triggers (&lt;7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ms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latency)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alibri"/>
              </a:rPr>
              <a:t>ML Anomaly Scorer: 18-feature telemetry vector scored by </a:t>
            </a:r>
            <a:r>
              <a:rPr sz="1300" b="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300" b="0" dirty="0">
                <a:solidFill>
                  <a:srgbClr val="333333"/>
                </a:solidFill>
                <a:latin typeface="Calibri"/>
              </a:rPr>
              <a:t> into a continuous risk value [0.00–1.00]; Model A zero-deduction defense for high-risk transactions</a:t>
            </a:r>
          </a:p>
        </p:txBody>
      </p:sp>
    </p:spTree>
    <p:extLst>
      <p:ext uri="{BB962C8B-B14F-4D97-AF65-F5344CB8AC3E}">
        <p14:creationId xmlns:p14="http://schemas.microsoft.com/office/powerpoint/2010/main" val="154016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E9C2E4-6C32-3698-CBBD-091946707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3081353"/>
            <a:ext cx="8243887" cy="360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B9053-D482-50C2-543B-3488D564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H" smtClean="0"/>
              <a:pPr/>
              <a:t>10</a:t>
            </a:fld>
            <a:endParaRPr lang="en-GH"/>
          </a:p>
        </p:txBody>
      </p:sp>
      <p:sp>
        <p:nvSpPr>
          <p:cNvPr id="7" name="TextBox 6"/>
          <p:cNvSpPr txBox="1"/>
          <p:nvPr/>
        </p:nvSpPr>
        <p:spPr>
          <a:xfrm>
            <a:off x="471941" y="141457"/>
            <a:ext cx="8243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>
                <a:latin typeface="+mj-lt"/>
              </a:rPr>
              <a:t>Machine Learning Workflow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941" y="1265471"/>
            <a:ext cx="82434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dirty="0">
                <a:solidFill>
                  <a:srgbClr val="333333"/>
                </a:solidFill>
                <a:latin typeface="Calibri"/>
              </a:rPr>
              <a:t>The diagram below illustrates the end-to-end machine learning workflow adopted in this project. Raw transaction data from the Kaggle Africa-Mobile-Money-Fraud-Dataset undergoes pre-processing (handling missing values, encoding categorical features, and normalizing numerical fields), followed by exploratory data analysis. The cleaned dataset is split into 80/20 train-test partitions before being fed into an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Regressor. The trained model is evaluated using MAE, RMSE, and R² metrics, then serialized and deployed as a real-time fraud scoring microservice via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FastAPI</a:t>
            </a:r>
            <a:r>
              <a:rPr sz="16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02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15B8-2519-22D0-C3D0-E40B2B7E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and System Integration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71941" y="1210156"/>
            <a:ext cx="8243434" cy="4866810"/>
          </a:xfrm>
        </p:spPr>
        <p:txBody>
          <a:bodyPr>
            <a:normAutofit/>
          </a:bodyPr>
          <a:lstStyle/>
          <a:p>
            <a:r>
              <a:rPr lang="en-US" dirty="0"/>
              <a:t>Backend: Node.js 18 LTS + Express.js gateway - JWT auth, telemetry ingestion, ATOD interceptor middleware</a:t>
            </a:r>
          </a:p>
          <a:p>
            <a:r>
              <a:rPr lang="en-US" dirty="0"/>
              <a:t>ML Service: Python 3.10, FastAPI + Uvicorn hosting the serialized XGBoost model as an isolated microservice</a:t>
            </a:r>
          </a:p>
          <a:p>
            <a:r>
              <a:rPr lang="en-US" dirty="0"/>
              <a:t>Web Client: React.js single-page application with an automated step-up MFA challenge modal</a:t>
            </a:r>
          </a:p>
          <a:p>
            <a:r>
              <a:rPr lang="en-US" dirty="0"/>
              <a:t>Database: MongoDB Atlas - users, accounts, transactions, fraud_alerts, and audit_logs collections</a:t>
            </a:r>
          </a:p>
          <a:p>
            <a:r>
              <a:rPr lang="en-US" dirty="0"/>
              <a:t>SOC Admin Portal: React.js dashboard with bi-directional WebSockets, live KPI ribbon, and forensic drawer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7A422-E8F6-D747-F97A-CF7DBB2D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0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AD4BA6-5091-E608-5416-04AE1818A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12" y="3157219"/>
            <a:ext cx="8243887" cy="330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EADF-3777-C602-E4AA-3C4AD8F3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H" smtClean="0"/>
              <a:pPr/>
              <a:t>12</a:t>
            </a:fld>
            <a:endParaRPr lang="en-GH"/>
          </a:p>
        </p:txBody>
      </p:sp>
      <p:sp>
        <p:nvSpPr>
          <p:cNvPr id="7" name="TextBox 6"/>
          <p:cNvSpPr txBox="1"/>
          <p:nvPr/>
        </p:nvSpPr>
        <p:spPr>
          <a:xfrm>
            <a:off x="471941" y="288941"/>
            <a:ext cx="8243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dirty="0">
                <a:latin typeface="+mj-lt"/>
              </a:rPr>
              <a:t>Supervised Learning: Classification vs.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465" y="1230278"/>
            <a:ext cx="82434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dirty="0">
                <a:solidFill>
                  <a:srgbClr val="333333"/>
                </a:solidFill>
                <a:latin typeface="Calibri"/>
              </a:rPr>
              <a:t>This project leverages supervised learning</a:t>
            </a:r>
            <a:r>
              <a:rPr lang="en-US" sz="1600" dirty="0">
                <a:solidFill>
                  <a:srgbClr val="333333"/>
                </a:solidFill>
                <a:latin typeface="Calibri"/>
              </a:rPr>
              <a:t>, </a:t>
            </a:r>
            <a:r>
              <a:rPr sz="1600" dirty="0">
                <a:solidFill>
                  <a:srgbClr val="333333"/>
                </a:solidFill>
                <a:latin typeface="Calibri"/>
              </a:rPr>
              <a:t>the branch of machine learning where models are trained on labelled historical data to generalize predictions to unseen inputs. Supervised learning divides into two paradigms: Classification assigns discrete labels (e.g., fraud vs. legitimate), while Regression predicts continuous values (e.g., a risk score between 0.0 and 1.0). Our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model operates as a regressor, outputting a continuous fraud-risk score that is subsequently normalized via min-max scaling and mapped to four risk tiers (Low, Medium, High, Critical) to drive the Model A zero-deduction defense policy.</a:t>
            </a:r>
          </a:p>
        </p:txBody>
      </p:sp>
    </p:spTree>
    <p:extLst>
      <p:ext uri="{BB962C8B-B14F-4D97-AF65-F5344CB8AC3E}">
        <p14:creationId xmlns:p14="http://schemas.microsoft.com/office/powerpoint/2010/main" val="119384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5BD-3237-4550-A27C-BA77F061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  <a:endParaRPr lang="en-GB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695977"/>
              </p:ext>
            </p:extLst>
          </p:nvPr>
        </p:nvGraphicFramePr>
        <p:xfrm>
          <a:off x="471941" y="1159727"/>
          <a:ext cx="8243434" cy="35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200" b="1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200" dirty="0"/>
                        <a:t>R2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200" dirty="0"/>
                        <a:t>Mean square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1.892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US" sz="1200" dirty="0"/>
                        <a:t>Fraud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82.40%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Avg. ML Inference Latency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6.8 </a:t>
                      </a:r>
                      <a:r>
                        <a:rPr lang="en-US" sz="1200" dirty="0" err="1"/>
                        <a:t>ms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65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27D5C-C32B-4256-9BB2-7D3EF3A6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48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DDE2-EF71-424A-A0CA-C2BF8B65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31AA-AD75-4990-BC83-49D4AE5AA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1" y="1159727"/>
            <a:ext cx="8243434" cy="51158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Hybrid defense outperforms either approach alone: heuristics catch identity attacks in under 7ms; XGBoost resolves subtle behavioral drift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Zero-deduction policy is production-viable via a sidecar proxy and Kubernetes auto-scaling for peak MNO transaction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Must comply with Ghana's Data Protection Act (Act 843); SHAP explainability supports fair, auditable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 contributions: a unified ATOD + ML defense architecture, an 18-feature telemetry vector, a validated zero-deduction policy, and a real-time SOC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Limitations: trained on the Kaggle dataset only; pure USSD sessions lack rich browser telemetry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Future work: graph neural networks for mule detection, privacy-preserving federated learning, and edge AI deployment on handsets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17162-8D65-4533-B1BC-A23942D4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55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2725738"/>
            <a:ext cx="8229600" cy="1139825"/>
          </a:xfrm>
        </p:spPr>
        <p:txBody>
          <a:bodyPr/>
          <a:lstStyle/>
          <a:p>
            <a:pPr algn="ctr"/>
            <a:r>
              <a:rPr lang="en-US" altLang="en-US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986531-79DC-4007-AF26-8BE7401F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CBA6E-F90B-4680-A0B4-0BF69B3B2C3B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46633</TotalTime>
  <Words>1512</Words>
  <Application>Microsoft Office PowerPoint</Application>
  <PresentationFormat>On-screen Show (4:3)</PresentationFormat>
  <Paragraphs>147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Times New Roman</vt:lpstr>
      <vt:lpstr>Wingdings</vt:lpstr>
      <vt:lpstr>Gallery</vt:lpstr>
      <vt:lpstr>Simulated Mobile Money Platform with Machine Learning Fraud Detection</vt:lpstr>
      <vt:lpstr>Presentation Outline</vt:lpstr>
      <vt:lpstr>Introduction</vt:lpstr>
      <vt:lpstr>Problem Statement</vt:lpstr>
      <vt:lpstr>Research Objectives</vt:lpstr>
      <vt:lpstr>Project Scope and limitations</vt:lpstr>
      <vt:lpstr>Literature Review</vt:lpstr>
      <vt:lpstr>Literature Review: Key Studies</vt:lpstr>
      <vt:lpstr>System Methodology and Architecture</vt:lpstr>
      <vt:lpstr>PowerPoint Presentation</vt:lpstr>
      <vt:lpstr>Implementation and System Integration</vt:lpstr>
      <vt:lpstr>PowerPoint Presentation</vt:lpstr>
      <vt:lpstr>Experimental Results</vt:lpstr>
      <vt:lpstr>Discussion and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Tweneboah-Koduah</dc:creator>
  <cp:lastModifiedBy>Williams Atabisa</cp:lastModifiedBy>
  <cp:revision>388</cp:revision>
  <dcterms:created xsi:type="dcterms:W3CDTF">2021-03-03T19:36:22Z</dcterms:created>
  <dcterms:modified xsi:type="dcterms:W3CDTF">2026-10-03T07:48:23Z</dcterms:modified>
</cp:coreProperties>
</file>